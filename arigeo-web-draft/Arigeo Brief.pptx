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lay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Play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2accfa13_2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52accfa13_2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f52accfa13_2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52accfa13_2_1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g3f52accfa13_2_1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f52accfa13_2_1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52accfa13_2_4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g3f52accfa13_2_4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52accfa13_2_4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52accfa13_2_7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g3f52accfa13_2_7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52accfa13_2_7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52accfa13_2_10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g3f52accfa13_2_10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f52accfa13_2_10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52accfa13_2_12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g3f52accfa13_2_12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52accfa13_2_12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52accfa13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52accfa13_2_155:notes"/>
          <p:cNvSpPr/>
          <p:nvPr>
            <p:ph idx="2" type="sldImg"/>
          </p:nvPr>
        </p:nvSpPr>
        <p:spPr>
          <a:xfrm>
            <a:off x="857419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52accfa13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52accfa13_2_167:notes"/>
          <p:cNvSpPr/>
          <p:nvPr>
            <p:ph idx="2" type="sldImg"/>
          </p:nvPr>
        </p:nvSpPr>
        <p:spPr>
          <a:xfrm>
            <a:off x="857419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52accfa13_2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52accfa13_2_180:notes"/>
          <p:cNvSpPr/>
          <p:nvPr>
            <p:ph idx="2" type="sldImg"/>
          </p:nvPr>
        </p:nvSpPr>
        <p:spPr>
          <a:xfrm>
            <a:off x="857419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52accfa13_2_19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g3f52accfa13_2_19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f52accfa13_2_19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52accfa13_2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f52accfa13_2_223:notes"/>
          <p:cNvSpPr/>
          <p:nvPr>
            <p:ph idx="2" type="sldImg"/>
          </p:nvPr>
        </p:nvSpPr>
        <p:spPr>
          <a:xfrm>
            <a:off x="857419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52accfa13_2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52accfa13_2_236:notes"/>
          <p:cNvSpPr/>
          <p:nvPr>
            <p:ph idx="2" type="sldImg"/>
          </p:nvPr>
        </p:nvSpPr>
        <p:spPr>
          <a:xfrm>
            <a:off x="857419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52accfa13_2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52accfa13_2_247:notes"/>
          <p:cNvSpPr/>
          <p:nvPr>
            <p:ph idx="2" type="sldImg"/>
          </p:nvPr>
        </p:nvSpPr>
        <p:spPr>
          <a:xfrm>
            <a:off x="857419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52accfa13_2_26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g3f52accfa13_2_26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f52accfa13_2_26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52accfa13_2_29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g3f52accfa13_2_29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f52accfa13_2_29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52accfa13_2_32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g3f52accfa13_2_32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f52accfa13_2_32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52accfa13_2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f52accfa13_2_357:notes"/>
          <p:cNvSpPr/>
          <p:nvPr>
            <p:ph idx="2" type="sldImg"/>
          </p:nvPr>
        </p:nvSpPr>
        <p:spPr>
          <a:xfrm>
            <a:off x="857419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jpg"/><Relationship Id="rId5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hyperlink" Target="https://www.kao.com/global/en/corporate/purpose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hyperlink" Target="https://docs.google.com/spreadsheets/d/1sgzkzjkd1o4YnyWP4Sz65HKwfhUfk7TYRQULh4zY0HI/edit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hyperlink" Target="mailto:XXXX@arigeo.co.th" TargetMode="External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rigeo_home_cover.jpg" id="57" name="Google Shape;57;p15"/>
          <p:cNvPicPr preferRelativeResize="0"/>
          <p:nvPr/>
        </p:nvPicPr>
        <p:blipFill rotWithShape="1">
          <a:blip r:embed="rId3">
            <a:alphaModFix amt="82000"/>
          </a:blip>
          <a:srcRect b="0" l="0" r="0" t="0"/>
          <a:stretch/>
        </p:blipFill>
        <p:spPr>
          <a:xfrm>
            <a:off x="4629150" y="0"/>
            <a:ext cx="451256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rigeo_logo_white.png" id="58" name="Google Shape;5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" y="425196"/>
            <a:ext cx="1405890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/>
          <p:nvPr/>
        </p:nvSpPr>
        <p:spPr>
          <a:xfrm>
            <a:off x="7646670" y="432054"/>
            <a:ext cx="685800" cy="685800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493776" y="1543050"/>
            <a:ext cx="366903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Play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Website Company Brief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14350" y="2160270"/>
            <a:ext cx="353187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ECECEC"/>
                </a:solidFill>
                <a:latin typeface="Arial"/>
                <a:ea typeface="Arial"/>
                <a:cs typeface="Arial"/>
                <a:sym typeface="Arial"/>
              </a:rPr>
              <a:t>Brief for Arigeo corporate website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ECECEC"/>
                </a:solidFill>
                <a:latin typeface="Arial"/>
                <a:ea typeface="Arial"/>
                <a:cs typeface="Arial"/>
                <a:sym typeface="Arial"/>
              </a:rPr>
              <a:t>UX/UI inspired by Kao Global, applied with Arigeo white / red / black identity.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21208" y="3051810"/>
            <a:ext cx="754380" cy="157734"/>
          </a:xfrm>
          <a:prstGeom prst="roundRect">
            <a:avLst>
              <a:gd fmla="val 2173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21208" y="3100254"/>
            <a:ext cx="754380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Household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1371600" y="3051810"/>
            <a:ext cx="754380" cy="157734"/>
          </a:xfrm>
          <a:prstGeom prst="roundRect">
            <a:avLst>
              <a:gd fmla="val 2173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1371600" y="3100254"/>
            <a:ext cx="754380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Skincare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228850" y="3051810"/>
            <a:ext cx="994410" cy="157734"/>
          </a:xfrm>
          <a:prstGeom prst="roundRect">
            <a:avLst>
              <a:gd fmla="val 21739" name="adj"/>
            </a:avLst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2228850" y="3107549"/>
            <a:ext cx="994410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Corporate Trust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521208" y="4697730"/>
            <a:ext cx="22631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For agency briefing / UX UI website quotation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rigeo_logo_transparent.png" id="74" name="Google Shape;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71450"/>
            <a:ext cx="768096" cy="168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6"/>
          <p:cNvCxnSpPr/>
          <p:nvPr/>
        </p:nvCxnSpPr>
        <p:spPr>
          <a:xfrm>
            <a:off x="1234440" y="253746"/>
            <a:ext cx="6789420" cy="0"/>
          </a:xfrm>
          <a:prstGeom prst="straightConnector1">
            <a:avLst/>
          </a:prstGeom>
          <a:noFill/>
          <a:ln cap="flat" cmpd="sng" w="9525">
            <a:solidFill>
              <a:srgbClr val="E7E4E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6"/>
          <p:cNvSpPr/>
          <p:nvPr/>
        </p:nvSpPr>
        <p:spPr>
          <a:xfrm>
            <a:off x="8778240" y="164592"/>
            <a:ext cx="116586" cy="116586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507492" y="562356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100"/>
              <a:buFont typeface="Play"/>
              <a:buNone/>
            </a:pPr>
            <a:r>
              <a:rPr b="1" lang="en" sz="21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Project context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14350" y="857250"/>
            <a:ext cx="510921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Arigeo needs one corporate website to introduce the company and connect users to its household and skincare portfolio.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rigeo_still_vertical.jpg" id="79" name="Google Shape;7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6460" y="617220"/>
            <a:ext cx="2674620" cy="366903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521208" y="1385316"/>
            <a:ext cx="21259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3 brand families under Arigeo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548640" y="1748790"/>
            <a:ext cx="1062990" cy="72009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96646" y="1962993"/>
            <a:ext cx="966978" cy="89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Captainmaid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17220" y="2194632"/>
            <a:ext cx="92583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600"/>
              <a:buFont typeface="Arial"/>
              <a:buNone/>
            </a:pPr>
            <a:r>
              <a:rPr lang="en" sz="6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Household launches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920240" y="1748790"/>
            <a:ext cx="1062990" cy="72009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1999618" y="1962848"/>
            <a:ext cx="966978" cy="89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GenuLeaf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1995678" y="2210757"/>
            <a:ext cx="92583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500"/>
              <a:buFont typeface="Arial"/>
              <a:buNone/>
            </a:pPr>
            <a:r>
              <a:rPr lang="en" sz="5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Skincare launches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291840" y="1748790"/>
            <a:ext cx="1062990" cy="72009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377565" y="1960950"/>
            <a:ext cx="966978" cy="89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CeraTory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360420" y="2212507"/>
            <a:ext cx="92583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500"/>
              <a:buFont typeface="Arial"/>
              <a:buNone/>
            </a:pPr>
            <a:r>
              <a:rPr lang="en" sz="5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Derma skincare launches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6"/>
          <p:cNvCxnSpPr/>
          <p:nvPr/>
        </p:nvCxnSpPr>
        <p:spPr>
          <a:xfrm>
            <a:off x="521208" y="2777490"/>
            <a:ext cx="4251960" cy="0"/>
          </a:xfrm>
          <a:prstGeom prst="straightConnector1">
            <a:avLst/>
          </a:prstGeom>
          <a:noFill/>
          <a:ln cap="flat" cmpd="sng" w="12700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16"/>
          <p:cNvSpPr/>
          <p:nvPr/>
        </p:nvSpPr>
        <p:spPr>
          <a:xfrm>
            <a:off x="521208" y="2948940"/>
            <a:ext cx="13716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HOUSEHOLD FOUNDATION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21208" y="3127248"/>
            <a:ext cx="44577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Captainmaid covers floor cleaner, kitchen cleaner, glass cleaner, dishwash, hand wash, bathroom cleaner, washing machine cleaner and anti-bac home care.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521208" y="3689604"/>
            <a:ext cx="12344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SKINCARE FOUNDATION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21208" y="3867912"/>
            <a:ext cx="44577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GenuLeaf and CeraTory focus on soothing, brightening, barrier repair, cleansing and acne-care product lines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342900" y="4882896"/>
            <a:ext cx="150876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500"/>
              <a:buFont typeface="Arial"/>
              <a:buNone/>
            </a:pPr>
            <a:r>
              <a:rPr b="1" lang="en" sz="5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ARIGEO WEBSITE BRIEF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rigeo_logo_transparent.png" id="101" name="Google Shape;1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71450"/>
            <a:ext cx="768096" cy="168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7"/>
          <p:cNvCxnSpPr/>
          <p:nvPr/>
        </p:nvCxnSpPr>
        <p:spPr>
          <a:xfrm>
            <a:off x="1234440" y="253746"/>
            <a:ext cx="6789420" cy="0"/>
          </a:xfrm>
          <a:prstGeom prst="straightConnector1">
            <a:avLst/>
          </a:prstGeom>
          <a:noFill/>
          <a:ln cap="flat" cmpd="sng" w="9525">
            <a:solidFill>
              <a:srgbClr val="E7E4E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7"/>
          <p:cNvSpPr/>
          <p:nvPr/>
        </p:nvSpPr>
        <p:spPr>
          <a:xfrm>
            <a:off x="8778240" y="164592"/>
            <a:ext cx="116586" cy="116586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342900" y="583050"/>
            <a:ext cx="72246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Build a digital home for Arigeo: credible like a corporate site, clear like a brand gateway, and flexible for future launches.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564642" y="1515764"/>
            <a:ext cx="2366010" cy="2366010"/>
          </a:xfrm>
          <a:prstGeom prst="roundRect">
            <a:avLst>
              <a:gd fmla="val 1159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747522" y="1694000"/>
            <a:ext cx="233172" cy="233172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747522" y="1800225"/>
            <a:ext cx="233172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747522" y="1810586"/>
            <a:ext cx="2056598" cy="684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Corporate credibility</a:t>
            </a:r>
            <a:endParaRPr sz="1100"/>
          </a:p>
        </p:txBody>
      </p:sp>
      <p:sp>
        <p:nvSpPr>
          <p:cNvPr id="109" name="Google Shape;109;p17"/>
          <p:cNvSpPr/>
          <p:nvPr/>
        </p:nvSpPr>
        <p:spPr>
          <a:xfrm>
            <a:off x="747522" y="2537642"/>
            <a:ext cx="1920240" cy="686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Company story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Quality &amp; innovation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Trust for partners and consumers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17"/>
          <p:cNvCxnSpPr/>
          <p:nvPr/>
        </p:nvCxnSpPr>
        <p:spPr>
          <a:xfrm>
            <a:off x="747522" y="3394710"/>
            <a:ext cx="1885950" cy="0"/>
          </a:xfrm>
          <a:prstGeom prst="straightConnector1">
            <a:avLst/>
          </a:prstGeom>
          <a:noFill/>
          <a:ln cap="flat" cmpd="sng" w="1395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7"/>
          <p:cNvSpPr/>
          <p:nvPr/>
        </p:nvSpPr>
        <p:spPr>
          <a:xfrm>
            <a:off x="3387852" y="1543050"/>
            <a:ext cx="2366010" cy="2366010"/>
          </a:xfrm>
          <a:prstGeom prst="roundRect">
            <a:avLst>
              <a:gd fmla="val 1159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3573018" y="1708262"/>
            <a:ext cx="233172" cy="233172"/>
          </a:xfrm>
          <a:prstGeom prst="ellipse">
            <a:avLst/>
          </a:prstGeom>
          <a:solidFill>
            <a:srgbClr val="080808"/>
          </a:solidFill>
          <a:ln cap="flat" cmpd="sng" w="12700">
            <a:solidFill>
              <a:srgbClr val="0808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3573018" y="1800225"/>
            <a:ext cx="233172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3555873" y="2033397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Brand discovery</a:t>
            </a:r>
            <a:endParaRPr sz="1100"/>
          </a:p>
        </p:txBody>
      </p:sp>
      <p:sp>
        <p:nvSpPr>
          <p:cNvPr id="115" name="Google Shape;115;p17"/>
          <p:cNvSpPr/>
          <p:nvPr/>
        </p:nvSpPr>
        <p:spPr>
          <a:xfrm>
            <a:off x="3611880" y="2657476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Portfolio by category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Clear product benefits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Easy route to brand pages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17"/>
          <p:cNvCxnSpPr/>
          <p:nvPr/>
        </p:nvCxnSpPr>
        <p:spPr>
          <a:xfrm>
            <a:off x="3573018" y="3394710"/>
            <a:ext cx="1885950" cy="0"/>
          </a:xfrm>
          <a:prstGeom prst="straightConnector1">
            <a:avLst/>
          </a:prstGeom>
          <a:noFill/>
          <a:ln cap="flat" cmpd="sng" w="13950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7"/>
          <p:cNvSpPr/>
          <p:nvPr/>
        </p:nvSpPr>
        <p:spPr>
          <a:xfrm>
            <a:off x="6213348" y="1543050"/>
            <a:ext cx="2366010" cy="2366010"/>
          </a:xfrm>
          <a:prstGeom prst="roundRect">
            <a:avLst>
              <a:gd fmla="val 1159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6398514" y="1728216"/>
            <a:ext cx="233172" cy="233172"/>
          </a:xfrm>
          <a:prstGeom prst="ellipse">
            <a:avLst/>
          </a:prstGeom>
          <a:solidFill>
            <a:srgbClr val="080808"/>
          </a:solidFill>
          <a:ln cap="flat" cmpd="sng" w="12700">
            <a:solidFill>
              <a:srgbClr val="0808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6398514" y="1800225"/>
            <a:ext cx="233172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287643" y="1978533"/>
            <a:ext cx="2125980" cy="387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Launch-ready CMS 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Content Management System)</a:t>
            </a:r>
            <a:endParaRPr sz="1100"/>
          </a:p>
        </p:txBody>
      </p:sp>
      <p:sp>
        <p:nvSpPr>
          <p:cNvPr id="121" name="Google Shape;121;p17"/>
          <p:cNvSpPr/>
          <p:nvPr/>
        </p:nvSpPr>
        <p:spPr>
          <a:xfrm>
            <a:off x="6480810" y="2595753"/>
            <a:ext cx="19202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-2159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000"/>
              <a:buFont typeface="Arial"/>
              <a:buChar char="•"/>
            </a:pPr>
            <a:r>
              <a:rPr lang="en" sz="10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Add new products easily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000"/>
              <a:buFont typeface="Arial"/>
              <a:buChar char="•"/>
            </a:pPr>
            <a:r>
              <a:rPr lang="en" sz="10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News &amp; PR modules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000"/>
              <a:buFont typeface="Arial"/>
              <a:buChar char="•"/>
            </a:pPr>
            <a:r>
              <a:rPr lang="en" sz="10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SEO-ready content structure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17"/>
          <p:cNvCxnSpPr/>
          <p:nvPr/>
        </p:nvCxnSpPr>
        <p:spPr>
          <a:xfrm>
            <a:off x="6398514" y="3394710"/>
            <a:ext cx="1885950" cy="0"/>
          </a:xfrm>
          <a:prstGeom prst="straightConnector1">
            <a:avLst/>
          </a:prstGeom>
          <a:noFill/>
          <a:ln cap="flat" cmpd="sng" w="13950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17"/>
          <p:cNvSpPr/>
          <p:nvPr/>
        </p:nvSpPr>
        <p:spPr>
          <a:xfrm>
            <a:off x="342900" y="4882896"/>
            <a:ext cx="150876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b="1"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ARIGEO WEBSITE BRIEF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rigeo_logo_transparent.png" id="129" name="Google Shape;1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71450"/>
            <a:ext cx="768096" cy="168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18"/>
          <p:cNvCxnSpPr/>
          <p:nvPr/>
        </p:nvCxnSpPr>
        <p:spPr>
          <a:xfrm>
            <a:off x="1234440" y="253746"/>
            <a:ext cx="6789420" cy="0"/>
          </a:xfrm>
          <a:prstGeom prst="straightConnector1">
            <a:avLst/>
          </a:prstGeom>
          <a:noFill/>
          <a:ln cap="flat" cmpd="sng" w="9525">
            <a:solidFill>
              <a:srgbClr val="E7E4E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8"/>
          <p:cNvSpPr/>
          <p:nvPr/>
        </p:nvSpPr>
        <p:spPr>
          <a:xfrm>
            <a:off x="8778240" y="164592"/>
            <a:ext cx="116586" cy="116586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507492" y="562356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Reference UX/UI: Kao Global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514350" y="857250"/>
            <a:ext cx="510921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600"/>
              <a:buFont typeface="Arial"/>
              <a:buNone/>
            </a:pPr>
            <a:r>
              <a:rPr lang="en" sz="6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Use Kao Global as inspiration for information architecture, clean design and brand navigation.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514350" y="1200150"/>
            <a:ext cx="3840480" cy="2194560"/>
          </a:xfrm>
          <a:prstGeom prst="roundRect">
            <a:avLst>
              <a:gd fmla="val 1250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kao_corporate_crop.jpg" id="135" name="Google Shape;1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510" y="1337310"/>
            <a:ext cx="356616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4663440" y="1200150"/>
            <a:ext cx="3840480" cy="2194560"/>
          </a:xfrm>
          <a:prstGeom prst="roundRect">
            <a:avLst>
              <a:gd fmla="val 1250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kao_brands_crop.jpg" id="137" name="Google Shape;1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1337310"/>
            <a:ext cx="356616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/>
          <p:nvPr/>
        </p:nvSpPr>
        <p:spPr>
          <a:xfrm>
            <a:off x="514350" y="3669030"/>
            <a:ext cx="233172" cy="233172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514350" y="3741039"/>
            <a:ext cx="233172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822960" y="3682746"/>
            <a:ext cx="222885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Corporate clarity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822950" y="3792473"/>
            <a:ext cx="21603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Clear top navigation for company, purpose, innovation, sustainability and brands.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3257550" y="3669030"/>
            <a:ext cx="233172" cy="233172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3257550" y="3741039"/>
            <a:ext cx="233172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3566160" y="3682746"/>
            <a:ext cx="222885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Brand portfolio hub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566160" y="3874770"/>
            <a:ext cx="216027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Large portfolio browsing by category with simple brand entry points.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6000750" y="3669030"/>
            <a:ext cx="233172" cy="233172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6000750" y="3741039"/>
            <a:ext cx="233172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309360" y="3682746"/>
            <a:ext cx="222885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Clean human look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6309360" y="3874770"/>
            <a:ext cx="216027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Soft, everyday care visuals that communicate trust and product quality.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14350" y="4491990"/>
            <a:ext cx="67208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Reference direction: Kao Global corporate site structure + brand gateway behavior. Visual identity must remain Arigeo.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42900" y="4882896"/>
            <a:ext cx="150876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b="1"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ARIGEO WEBSITE BRIEF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rigeo_logo_transparent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71450"/>
            <a:ext cx="768096" cy="168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19"/>
          <p:cNvCxnSpPr/>
          <p:nvPr/>
        </p:nvCxnSpPr>
        <p:spPr>
          <a:xfrm>
            <a:off x="1234440" y="253746"/>
            <a:ext cx="6789420" cy="0"/>
          </a:xfrm>
          <a:prstGeom prst="straightConnector1">
            <a:avLst/>
          </a:prstGeom>
          <a:noFill/>
          <a:ln cap="flat" cmpd="sng" w="9525">
            <a:solidFill>
              <a:srgbClr val="E7E4E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19"/>
          <p:cNvSpPr/>
          <p:nvPr/>
        </p:nvSpPr>
        <p:spPr>
          <a:xfrm>
            <a:off x="8401050" y="18516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500"/>
              <a:buFont typeface="Arial"/>
              <a:buNone/>
            </a:pPr>
            <a:r>
              <a:rPr lang="en" sz="5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8778240" y="164592"/>
            <a:ext cx="116586" cy="116586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507492" y="562356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Arigeo visual application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14350" y="857250"/>
            <a:ext cx="510921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600"/>
              <a:buFont typeface="Arial"/>
              <a:buNone/>
            </a:pPr>
            <a:r>
              <a:rPr lang="en" sz="6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Bring the logo system into the brief: white space, strong black typography and a confident red brand signal.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93776" y="1179576"/>
            <a:ext cx="3531870" cy="32232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rigeo_logo_transparent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090" y="1474470"/>
            <a:ext cx="1645920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>
            <a:off x="720090" y="2057400"/>
            <a:ext cx="17145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Brand impression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720090" y="2434590"/>
            <a:ext cx="264033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Modern corporate confidence with a high-contrast logo, supported by clean home and skincare visuals.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720090" y="3257550"/>
            <a:ext cx="582930" cy="157734"/>
          </a:xfrm>
          <a:prstGeom prst="roundRect">
            <a:avLst>
              <a:gd fmla="val 2173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726948" y="3313800"/>
            <a:ext cx="582930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WHITE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1405890" y="3257550"/>
            <a:ext cx="514350" cy="157734"/>
          </a:xfrm>
          <a:prstGeom prst="roundRect">
            <a:avLst>
              <a:gd fmla="val 21739" name="adj"/>
            </a:avLst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1405890" y="3312414"/>
            <a:ext cx="514350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2023110" y="3257550"/>
            <a:ext cx="617220" cy="157734"/>
          </a:xfrm>
          <a:prstGeom prst="roundRect">
            <a:avLst>
              <a:gd fmla="val 21739" name="adj"/>
            </a:avLst>
          </a:prstGeom>
          <a:solidFill>
            <a:srgbClr val="080808"/>
          </a:solidFill>
          <a:ln cap="flat" cmpd="sng" w="12700">
            <a:solidFill>
              <a:srgbClr val="0808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2023110" y="3313800"/>
            <a:ext cx="617220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BLACK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051810" y="1405890"/>
            <a:ext cx="685800" cy="685800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rigeo_ui_wide.jp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3410" y="1165860"/>
            <a:ext cx="4046220" cy="322326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/>
          <p:nvPr/>
        </p:nvSpPr>
        <p:spPr>
          <a:xfrm>
            <a:off x="4423410" y="3929634"/>
            <a:ext cx="4046220" cy="459486"/>
          </a:xfrm>
          <a:prstGeom prst="rect">
            <a:avLst/>
          </a:prstGeom>
          <a:solidFill>
            <a:srgbClr val="080808">
              <a:alpha val="92156"/>
            </a:srgbClr>
          </a:solidFill>
          <a:ln cap="flat" cmpd="sng" w="12700">
            <a:solidFill>
              <a:srgbClr val="08080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4594860" y="4080510"/>
            <a:ext cx="36347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Kao-inspired UX: organized, calm and easy to browse. Arigeo UI: bolder brand contrast.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342900" y="4882896"/>
            <a:ext cx="150876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b="1"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ARIGEO WEBSITE BRIEF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8641080" y="4869180"/>
            <a:ext cx="17145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rigeo_logo_transparent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71450"/>
            <a:ext cx="768096" cy="168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20"/>
          <p:cNvCxnSpPr/>
          <p:nvPr/>
        </p:nvCxnSpPr>
        <p:spPr>
          <a:xfrm>
            <a:off x="1234440" y="253746"/>
            <a:ext cx="6789420" cy="0"/>
          </a:xfrm>
          <a:prstGeom prst="straightConnector1">
            <a:avLst/>
          </a:prstGeom>
          <a:noFill/>
          <a:ln cap="flat" cmpd="sng" w="9525">
            <a:solidFill>
              <a:srgbClr val="E7E4E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20"/>
          <p:cNvSpPr/>
          <p:nvPr/>
        </p:nvSpPr>
        <p:spPr>
          <a:xfrm>
            <a:off x="8401050" y="18516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500"/>
              <a:buFont typeface="Arial"/>
              <a:buNone/>
            </a:pPr>
            <a:r>
              <a:rPr lang="en" sz="5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8778240" y="164592"/>
            <a:ext cx="116586" cy="116586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07492" y="562356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UX principles to apply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14350" y="857250"/>
            <a:ext cx="510921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600"/>
              <a:buFont typeface="Arial"/>
              <a:buNone/>
            </a:pPr>
            <a:r>
              <a:rPr lang="en" sz="6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The website should feel premium, simple and trustworthy across both household and skincare businesses.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34924" y="1371600"/>
            <a:ext cx="233172" cy="233172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34924" y="1481328"/>
            <a:ext cx="233172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857250" y="1385316"/>
            <a:ext cx="22631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Simple navigation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857250" y="1632204"/>
            <a:ext cx="35661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Top-level menu must help users quickly understand company, brands, innovation, sustainability and contact.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>
            <a:off x="857250" y="2043684"/>
            <a:ext cx="3703320" cy="0"/>
          </a:xfrm>
          <a:prstGeom prst="straightConnector1">
            <a:avLst/>
          </a:prstGeom>
          <a:noFill/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20"/>
          <p:cNvSpPr/>
          <p:nvPr/>
        </p:nvSpPr>
        <p:spPr>
          <a:xfrm>
            <a:off x="534924" y="2297430"/>
            <a:ext cx="233172" cy="233172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34924" y="2396871"/>
            <a:ext cx="233172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857250" y="2311146"/>
            <a:ext cx="22631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Category-first discovery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857250" y="2558034"/>
            <a:ext cx="35661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Visitors can filter by Household, Skincare, Cleansing, Barrier Care, Anti-bac, etc.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857250" y="2969514"/>
            <a:ext cx="3703320" cy="0"/>
          </a:xfrm>
          <a:prstGeom prst="straightConnector1">
            <a:avLst/>
          </a:prstGeom>
          <a:noFill/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20"/>
          <p:cNvSpPr/>
          <p:nvPr/>
        </p:nvSpPr>
        <p:spPr>
          <a:xfrm>
            <a:off x="534924" y="3223260"/>
            <a:ext cx="233172" cy="233172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34924" y="3322701"/>
            <a:ext cx="233172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857250" y="3236976"/>
            <a:ext cx="22631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Trust-building content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857250" y="3483864"/>
            <a:ext cx="35661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Use proof points, benefits, quality standards, science/nature story and corporate responsibility.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20"/>
          <p:cNvCxnSpPr/>
          <p:nvPr/>
        </p:nvCxnSpPr>
        <p:spPr>
          <a:xfrm>
            <a:off x="857250" y="3895344"/>
            <a:ext cx="3703320" cy="0"/>
          </a:xfrm>
          <a:prstGeom prst="straightConnector1">
            <a:avLst/>
          </a:prstGeom>
          <a:noFill/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arigeo_ui_squareish.jp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2050" y="1200150"/>
            <a:ext cx="3291840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4560570" y="4011930"/>
            <a:ext cx="329184" cy="329184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342900" y="4882896"/>
            <a:ext cx="150876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b="1"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ARIGEO WEBSITE BRIEF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8641080" y="4869180"/>
            <a:ext cx="17145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1" y="587787"/>
            <a:ext cx="4749530" cy="288740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291831" y="51654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Proposed website sitemap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447003" y="475049"/>
            <a:ext cx="1337310" cy="534924"/>
          </a:xfrm>
          <a:prstGeom prst="roundRect">
            <a:avLst>
              <a:gd fmla="val 5128" name="adj"/>
            </a:avLst>
          </a:prstGeom>
          <a:solidFill>
            <a:srgbClr val="F7F7F7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428290" y="587780"/>
            <a:ext cx="1248156" cy="75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5537835" y="684609"/>
            <a:ext cx="1029067" cy="3116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Company About / Purpose 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485315" y="1128200"/>
            <a:ext cx="2097900" cy="9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ARIGE</a:t>
            </a:r>
            <a:r>
              <a:rPr b="1" lang="en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Way    </a:t>
            </a:r>
            <a:r>
              <a:rPr b="1" lang="en" sz="900">
                <a:solidFill>
                  <a:schemeClr val="dk1"/>
                </a:solidFill>
              </a:rPr>
              <a:t> </a:t>
            </a:r>
            <a:r>
              <a:rPr b="1" lang="en" sz="900" u="sng">
                <a:solidFill>
                  <a:schemeClr val="hlink"/>
                </a:solidFill>
                <a:hlinkClick r:id="rId4"/>
              </a:rPr>
              <a:t>(Ref. Link Here)</a:t>
            </a:r>
            <a:endParaRPr b="1"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Purpose : 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Missio</a:t>
            </a:r>
            <a:r>
              <a:rPr lang="en" sz="800">
                <a:solidFill>
                  <a:schemeClr val="dk1"/>
                </a:solidFill>
              </a:rPr>
              <a:t>n</a:t>
            </a: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Vision :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Values : </a:t>
            </a:r>
            <a:endParaRPr sz="1100"/>
          </a:p>
        </p:txBody>
      </p:sp>
      <p:sp>
        <p:nvSpPr>
          <p:cNvPr id="219" name="Google Shape;219;p21"/>
          <p:cNvSpPr txBox="1"/>
          <p:nvPr/>
        </p:nvSpPr>
        <p:spPr>
          <a:xfrm>
            <a:off x="5594646" y="2447924"/>
            <a:ext cx="2097900" cy="19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Quality with Purpose</a:t>
            </a:r>
            <a:endParaRPr sz="1100"/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Innovation That Understands People</a:t>
            </a:r>
            <a:endParaRPr sz="1100"/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Care Beyond the Product</a:t>
            </a:r>
            <a:endParaRPr sz="1100"/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Our Principles</a:t>
            </a:r>
            <a:endParaRPr sz="1100"/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We Make Safety and Quality Non-Negotiable</a:t>
            </a:r>
            <a:endParaRPr sz="1100"/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We Improve Every Day</a:t>
            </a:r>
            <a:endParaRPr sz="1100"/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We Grow Responsibly</a:t>
            </a:r>
            <a:endParaRPr sz="1100"/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We Succeed Together</a:t>
            </a:r>
            <a:endParaRPr sz="1100"/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Our Commitment</a:t>
            </a:r>
            <a:endParaRPr sz="1100"/>
          </a:p>
        </p:txBody>
      </p:sp>
      <p:sp>
        <p:nvSpPr>
          <p:cNvPr id="220" name="Google Shape;220;p21"/>
          <p:cNvSpPr/>
          <p:nvPr/>
        </p:nvSpPr>
        <p:spPr>
          <a:xfrm>
            <a:off x="1965960" y="698349"/>
            <a:ext cx="3291840" cy="136041"/>
          </a:xfrm>
          <a:prstGeom prst="rect">
            <a:avLst/>
          </a:prstGeom>
          <a:solidFill>
            <a:srgbClr val="F2F2F2">
              <a:alpha val="6980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6993384" y="663219"/>
            <a:ext cx="1885950" cy="261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Short story, vision, purpose and credibility.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7755700" y="373700"/>
            <a:ext cx="14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501300" y="1076275"/>
            <a:ext cx="15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95959"/>
                </a:solidFill>
                <a:highlight>
                  <a:srgbClr val="FFFF00"/>
                </a:highlight>
              </a:rPr>
              <a:t>Responsible by P Fa</a:t>
            </a:r>
            <a:endParaRPr b="1" sz="1000">
              <a:solidFill>
                <a:srgbClr val="595959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/>
          <p:cNvPicPr preferRelativeResize="0"/>
          <p:nvPr/>
        </p:nvPicPr>
        <p:blipFill rotWithShape="1">
          <a:blip r:embed="rId3">
            <a:alphaModFix/>
          </a:blip>
          <a:srcRect b="51898" l="0" r="0" t="0"/>
          <a:stretch/>
        </p:blipFill>
        <p:spPr>
          <a:xfrm>
            <a:off x="356825" y="475054"/>
            <a:ext cx="4056175" cy="411234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/>
          <p:nvPr/>
        </p:nvSpPr>
        <p:spPr>
          <a:xfrm>
            <a:off x="291831" y="51654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Proposed website sitemap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447003" y="475049"/>
            <a:ext cx="1337310" cy="534924"/>
          </a:xfrm>
          <a:prstGeom prst="roundRect">
            <a:avLst>
              <a:gd fmla="val 5128" name="adj"/>
            </a:avLst>
          </a:prstGeom>
          <a:solidFill>
            <a:srgbClr val="F7F7F7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471358" y="684609"/>
            <a:ext cx="1248156" cy="75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Our Brands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1869075" y="561000"/>
            <a:ext cx="1801500" cy="199200"/>
          </a:xfrm>
          <a:prstGeom prst="rect">
            <a:avLst/>
          </a:prstGeom>
          <a:solidFill>
            <a:srgbClr val="F2F2F2">
              <a:alpha val="6980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1099516" y="560999"/>
            <a:ext cx="439800" cy="135900"/>
          </a:xfrm>
          <a:prstGeom prst="rect">
            <a:avLst/>
          </a:prstGeom>
          <a:solidFill>
            <a:srgbClr val="F2F2F2">
              <a:alpha val="6980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471358" y="1109805"/>
            <a:ext cx="128860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HOUSEHOLD FOUNDATION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471358" y="1246613"/>
            <a:ext cx="238483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Captainmaid covers floor cleaner, kitchen cleaner, glass cleaner, dishwash, hand wash, bathroom cleaner, washing machine cleaner and anti-bac home care.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471358" y="1919129"/>
            <a:ext cx="115974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SKINCARE FOUNDATION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447003" y="2077295"/>
            <a:ext cx="2582572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GenuLeaf and CeraTory focus on soothing, brightening, barrier repair, cleansing and acne-care product lines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268125" y="2960400"/>
            <a:ext cx="4233600" cy="16269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9" name="Google Shape;239;p22"/>
          <p:cNvCxnSpPr>
            <a:stCxn id="238" idx="3"/>
          </p:cNvCxnSpPr>
          <p:nvPr/>
        </p:nvCxnSpPr>
        <p:spPr>
          <a:xfrm flipH="1" rot="10800000">
            <a:off x="4501725" y="3767850"/>
            <a:ext cx="1060500" cy="6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" name="Google Shape;240;p22"/>
          <p:cNvSpPr txBox="1"/>
          <p:nvPr/>
        </p:nvSpPr>
        <p:spPr>
          <a:xfrm>
            <a:off x="5696725" y="3586200"/>
            <a:ext cx="186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95959"/>
                </a:solidFill>
                <a:highlight>
                  <a:srgbClr val="FFFF00"/>
                </a:highlight>
              </a:rPr>
              <a:t>Responsible by Graphic team</a:t>
            </a:r>
            <a:endParaRPr b="1" sz="900">
              <a:solidFill>
                <a:srgbClr val="595959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95959"/>
                </a:solidFill>
                <a:highlight>
                  <a:srgbClr val="FFFF00"/>
                </a:highlight>
              </a:rPr>
              <a:t>Overall product by category</a:t>
            </a:r>
            <a:endParaRPr b="1" sz="900">
              <a:solidFill>
                <a:srgbClr val="595959"/>
              </a:solidFill>
              <a:highlight>
                <a:srgbClr val="FFFF00"/>
              </a:highlight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356901" y="760215"/>
            <a:ext cx="4056300" cy="2146200"/>
          </a:xfrm>
          <a:prstGeom prst="rect">
            <a:avLst/>
          </a:prstGeom>
          <a:solidFill>
            <a:srgbClr val="F2F2F2">
              <a:alpha val="698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/>
          <p:nvPr/>
        </p:nvSpPr>
        <p:spPr>
          <a:xfrm>
            <a:off x="291831" y="51654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Proposed website sitemap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6468407" y="468577"/>
            <a:ext cx="1337310" cy="534924"/>
          </a:xfrm>
          <a:prstGeom prst="roundRect">
            <a:avLst>
              <a:gd fmla="val 5128" name="adj"/>
            </a:avLst>
          </a:prstGeom>
          <a:solidFill>
            <a:srgbClr val="F7F7F7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6512984" y="601129"/>
            <a:ext cx="1248156" cy="75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Products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6319766" y="1171527"/>
            <a:ext cx="128860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HOUSEHOLD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7632721" y="1171527"/>
            <a:ext cx="58803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SKINCARE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6029280" y="1171514"/>
            <a:ext cx="1362300" cy="15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Captainmaid</a:t>
            </a:r>
            <a:endParaRPr b="1" sz="110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17171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-Floor Cleaner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-Bathroom Cleaner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-Kitchen Cleaner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-Glass Cleaner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-Multi-purpose Disinfectant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-Dish washer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-View All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7580642" y="1251706"/>
            <a:ext cx="966978" cy="682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GenuLeaf</a:t>
            </a:r>
            <a:endParaRPr b="1" sz="110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-Gexx</a:t>
            </a:r>
            <a:endParaRPr sz="80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-Gexxx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7608366" y="1914842"/>
            <a:ext cx="966978" cy="51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CeraTory</a:t>
            </a:r>
            <a:endParaRPr b="1" sz="110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900"/>
              <a:buFont typeface="Arial"/>
              <a:buNone/>
            </a:pPr>
            <a:r>
              <a:rPr lang="en" sz="9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-Cexx</a:t>
            </a:r>
            <a:endParaRPr sz="90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900"/>
              <a:buFont typeface="Arial"/>
              <a:buNone/>
            </a:pPr>
            <a:r>
              <a:rPr lang="en" sz="9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-Cexxx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6631673" y="721193"/>
            <a:ext cx="1129467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600"/>
              <a:buFont typeface="Arial"/>
              <a:buNone/>
            </a:pPr>
            <a:r>
              <a:rPr lang="en" sz="6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Household + skincare portfolio with category filters.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23"/>
          <p:cNvPicPr preferRelativeResize="0"/>
          <p:nvPr/>
        </p:nvPicPr>
        <p:blipFill rotWithShape="1">
          <a:blip r:embed="rId3">
            <a:alphaModFix/>
          </a:blip>
          <a:srcRect b="51898" l="0" r="0" t="0"/>
          <a:stretch/>
        </p:blipFill>
        <p:spPr>
          <a:xfrm>
            <a:off x="356825" y="475054"/>
            <a:ext cx="4056175" cy="411234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/>
          <p:nvPr/>
        </p:nvSpPr>
        <p:spPr>
          <a:xfrm>
            <a:off x="2168050" y="561000"/>
            <a:ext cx="1502400" cy="199200"/>
          </a:xfrm>
          <a:prstGeom prst="rect">
            <a:avLst/>
          </a:prstGeom>
          <a:solidFill>
            <a:srgbClr val="F2F2F2">
              <a:alpha val="698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1099531" y="561000"/>
            <a:ext cx="747000" cy="135900"/>
          </a:xfrm>
          <a:prstGeom prst="rect">
            <a:avLst/>
          </a:prstGeom>
          <a:solidFill>
            <a:srgbClr val="F2F2F2">
              <a:alpha val="698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268125" y="2960400"/>
            <a:ext cx="4233600" cy="16269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356901" y="760215"/>
            <a:ext cx="4056300" cy="2146200"/>
          </a:xfrm>
          <a:prstGeom prst="rect">
            <a:avLst/>
          </a:prstGeom>
          <a:solidFill>
            <a:srgbClr val="F2F2F2">
              <a:alpha val="698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23"/>
          <p:cNvCxnSpPr>
            <a:stCxn id="258" idx="3"/>
            <a:endCxn id="251" idx="2"/>
          </p:cNvCxnSpPr>
          <p:nvPr/>
        </p:nvCxnSpPr>
        <p:spPr>
          <a:xfrm flipH="1" rot="10800000">
            <a:off x="4501725" y="2679150"/>
            <a:ext cx="2208600" cy="1094700"/>
          </a:xfrm>
          <a:prstGeom prst="bentConnector2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23"/>
          <p:cNvSpPr txBox="1"/>
          <p:nvPr/>
        </p:nvSpPr>
        <p:spPr>
          <a:xfrm>
            <a:off x="5610925" y="3841088"/>
            <a:ext cx="270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900"/>
              <a:buFont typeface="Arial"/>
              <a:buNone/>
            </a:pPr>
            <a:r>
              <a:rPr b="1" lang="en" sz="900">
                <a:solidFill>
                  <a:schemeClr val="accent6"/>
                </a:solidFill>
              </a:rPr>
              <a:t> Navigation to Brand Product listing</a:t>
            </a:r>
            <a:endParaRPr b="1">
              <a:solidFill>
                <a:schemeClr val="accent6"/>
              </a:solidFill>
            </a:endParaRPr>
          </a:p>
        </p:txBody>
      </p:sp>
      <p:sp>
        <p:nvSpPr>
          <p:cNvPr id="262" name="Google Shape;262;p23">
            <a:hlinkClick r:id="rId4"/>
          </p:cNvPr>
          <p:cNvSpPr txBox="1"/>
          <p:nvPr/>
        </p:nvSpPr>
        <p:spPr>
          <a:xfrm>
            <a:off x="6418200" y="4231425"/>
            <a:ext cx="1708200" cy="400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4151F"/>
                </a:solidFill>
              </a:rPr>
              <a:t>Click </a:t>
            </a:r>
            <a:r>
              <a:rPr lang="en"/>
              <a:t>to input data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7034925" y="3344200"/>
            <a:ext cx="186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595959"/>
                </a:solidFill>
                <a:highlight>
                  <a:srgbClr val="FFFF00"/>
                </a:highlight>
              </a:rPr>
              <a:t>Responsible by Graphic team</a:t>
            </a:r>
            <a:endParaRPr b="1" sz="900">
              <a:solidFill>
                <a:srgbClr val="595959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rigeo_logo_transparent.png" id="269" name="Google Shape;2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71450"/>
            <a:ext cx="768096" cy="168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0" name="Google Shape;270;p24"/>
          <p:cNvCxnSpPr/>
          <p:nvPr/>
        </p:nvCxnSpPr>
        <p:spPr>
          <a:xfrm>
            <a:off x="1234440" y="253746"/>
            <a:ext cx="6789420" cy="0"/>
          </a:xfrm>
          <a:prstGeom prst="straightConnector1">
            <a:avLst/>
          </a:prstGeom>
          <a:noFill/>
          <a:ln cap="flat" cmpd="sng" w="9525">
            <a:solidFill>
              <a:srgbClr val="E7E4E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24"/>
          <p:cNvSpPr/>
          <p:nvPr/>
        </p:nvSpPr>
        <p:spPr>
          <a:xfrm>
            <a:off x="8401050" y="18516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500"/>
              <a:buFont typeface="Arial"/>
              <a:buNone/>
            </a:pPr>
            <a:r>
              <a:rPr lang="en" sz="5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8778240" y="164592"/>
            <a:ext cx="116586" cy="116586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507492" y="562356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Brand &amp; product page requirements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514350" y="857250"/>
            <a:ext cx="510921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600"/>
              <a:buFont typeface="Arial"/>
              <a:buNone/>
            </a:pPr>
            <a:r>
              <a:rPr lang="en" sz="6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Product pages should be light, filterable and easy to maintain without looking like a heavy e-commerce site.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514350" y="3360420"/>
            <a:ext cx="3051810" cy="445770"/>
          </a:xfrm>
          <a:prstGeom prst="roundRect">
            <a:avLst>
              <a:gd fmla="val 6154" name="adj"/>
            </a:avLst>
          </a:prstGeom>
          <a:solidFill>
            <a:srgbClr val="F7F4E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685800" y="3463290"/>
            <a:ext cx="116586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Reference behavior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685800" y="3600450"/>
            <a:ext cx="257175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500"/>
              <a:buFont typeface="Arial"/>
              <a:buNone/>
            </a:pPr>
            <a:r>
              <a:rPr lang="en" sz="5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Kao-style brand hub: simple category browsing, unified brand entry, clean product discovery.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24"/>
          <p:cNvCxnSpPr/>
          <p:nvPr/>
        </p:nvCxnSpPr>
        <p:spPr>
          <a:xfrm>
            <a:off x="3943350" y="1186434"/>
            <a:ext cx="0" cy="514350"/>
          </a:xfrm>
          <a:prstGeom prst="straightConnector1">
            <a:avLst/>
          </a:prstGeom>
          <a:noFill/>
          <a:ln cap="flat" cmpd="sng" w="254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24"/>
          <p:cNvSpPr/>
          <p:nvPr/>
        </p:nvSpPr>
        <p:spPr>
          <a:xfrm>
            <a:off x="4080510" y="1165860"/>
            <a:ext cx="171450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Brand landing page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4080510" y="1357884"/>
            <a:ext cx="373761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Each brand has its own story, benefit focus, product categories, hero products and visual identity within the Arigeo system.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" name="Google Shape;281;p24"/>
          <p:cNvCxnSpPr/>
          <p:nvPr/>
        </p:nvCxnSpPr>
        <p:spPr>
          <a:xfrm>
            <a:off x="3943350" y="1975104"/>
            <a:ext cx="0" cy="514350"/>
          </a:xfrm>
          <a:prstGeom prst="straightConnector1">
            <a:avLst/>
          </a:prstGeom>
          <a:noFill/>
          <a:ln cap="flat" cmpd="sng" w="25400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24"/>
          <p:cNvSpPr/>
          <p:nvPr/>
        </p:nvSpPr>
        <p:spPr>
          <a:xfrm>
            <a:off x="4080510" y="1954530"/>
            <a:ext cx="171450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Product listing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4080510" y="2146554"/>
            <a:ext cx="373761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Filter by brand, category, concern, product type and launch collection. Include image, product name, size and key benefit.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p24"/>
          <p:cNvCxnSpPr/>
          <p:nvPr/>
        </p:nvCxnSpPr>
        <p:spPr>
          <a:xfrm>
            <a:off x="3943350" y="2763774"/>
            <a:ext cx="0" cy="514350"/>
          </a:xfrm>
          <a:prstGeom prst="straightConnector1">
            <a:avLst/>
          </a:prstGeom>
          <a:noFill/>
          <a:ln cap="flat" cmpd="sng" w="25400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24"/>
          <p:cNvSpPr/>
          <p:nvPr/>
        </p:nvSpPr>
        <p:spPr>
          <a:xfrm>
            <a:off x="4080510" y="2935224"/>
            <a:ext cx="373761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Overview, usage, key ingredients/technology, safety or quality claims, related products and contact CTA.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24"/>
          <p:cNvCxnSpPr/>
          <p:nvPr/>
        </p:nvCxnSpPr>
        <p:spPr>
          <a:xfrm>
            <a:off x="3943350" y="3552444"/>
            <a:ext cx="0" cy="514350"/>
          </a:xfrm>
          <a:prstGeom prst="straightConnector1">
            <a:avLst/>
          </a:prstGeom>
          <a:noFill/>
          <a:ln cap="flat" cmpd="sng" w="25400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24"/>
          <p:cNvSpPr/>
          <p:nvPr/>
        </p:nvSpPr>
        <p:spPr>
          <a:xfrm>
            <a:off x="4080510" y="3531870"/>
            <a:ext cx="171450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CMS usability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4080510" y="3723894"/>
            <a:ext cx="373761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Marketing team must be able to add future products from the master plan without agency support every time.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342900" y="4882896"/>
            <a:ext cx="150876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b="1"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ARIGEO WEBSITE BRIEF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8641080" y="4869180"/>
            <a:ext cx="17145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" y="1222849"/>
            <a:ext cx="3155135" cy="191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656" y="573762"/>
            <a:ext cx="4749530" cy="288740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/>
          <p:nvPr/>
        </p:nvSpPr>
        <p:spPr>
          <a:xfrm>
            <a:off x="291831" y="51654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Proposed website sitemap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3436296" y="721192"/>
            <a:ext cx="1821503" cy="113197"/>
          </a:xfrm>
          <a:prstGeom prst="rect">
            <a:avLst/>
          </a:prstGeom>
          <a:solidFill>
            <a:srgbClr val="F2F2F2">
              <a:alpha val="6980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1503241" y="698349"/>
            <a:ext cx="1123227" cy="136041"/>
          </a:xfrm>
          <a:prstGeom prst="rect">
            <a:avLst/>
          </a:prstGeom>
          <a:solidFill>
            <a:srgbClr val="F2F2F2">
              <a:alpha val="6980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6444404" y="2738822"/>
            <a:ext cx="1337310" cy="534924"/>
          </a:xfrm>
          <a:prstGeom prst="roundRect">
            <a:avLst>
              <a:gd fmla="val 5128" name="adj"/>
            </a:avLst>
          </a:prstGeom>
          <a:solidFill>
            <a:srgbClr val="F7F7F7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"/>
          <p:cNvSpPr/>
          <p:nvPr/>
        </p:nvSpPr>
        <p:spPr>
          <a:xfrm>
            <a:off x="6492410" y="2889698"/>
            <a:ext cx="1248156" cy="75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Sustainability/ responsibility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6512984" y="3106965"/>
            <a:ext cx="120015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Care for home, skin &amp; planet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6444404" y="722842"/>
            <a:ext cx="1337310" cy="534924"/>
          </a:xfrm>
          <a:prstGeom prst="roundRect">
            <a:avLst>
              <a:gd fmla="val 5128" name="adj"/>
            </a:avLst>
          </a:prstGeom>
          <a:solidFill>
            <a:srgbClr val="F7F7F7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6492410" y="873719"/>
            <a:ext cx="1248156" cy="75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Innovation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6512984" y="1024595"/>
            <a:ext cx="120015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R&amp;D / Ingredients / Standards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656" y="573762"/>
            <a:ext cx="4749530" cy="2887403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6"/>
          <p:cNvSpPr/>
          <p:nvPr/>
        </p:nvSpPr>
        <p:spPr>
          <a:xfrm>
            <a:off x="291831" y="51654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Proposed website sitemap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6468407" y="468577"/>
            <a:ext cx="1337310" cy="534924"/>
          </a:xfrm>
          <a:prstGeom prst="roundRect">
            <a:avLst>
              <a:gd fmla="val 5128" name="adj"/>
            </a:avLst>
          </a:prstGeom>
          <a:solidFill>
            <a:srgbClr val="F7F7F7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6512984" y="740072"/>
            <a:ext cx="1248156" cy="75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Newsroom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4114800" y="740071"/>
            <a:ext cx="532589" cy="94318"/>
          </a:xfrm>
          <a:prstGeom prst="rect">
            <a:avLst/>
          </a:prstGeom>
          <a:solidFill>
            <a:srgbClr val="F2F2F2">
              <a:alpha val="6980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1503241" y="740072"/>
            <a:ext cx="1872669" cy="94318"/>
          </a:xfrm>
          <a:prstGeom prst="rect">
            <a:avLst/>
          </a:prstGeom>
          <a:solidFill>
            <a:srgbClr val="F2F2F2">
              <a:alpha val="6980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6538130" y="2363039"/>
            <a:ext cx="1337310" cy="534924"/>
          </a:xfrm>
          <a:prstGeom prst="roundRect">
            <a:avLst>
              <a:gd fmla="val 5128" name="adj"/>
            </a:avLst>
          </a:prstGeom>
          <a:solidFill>
            <a:srgbClr val="F7F7F7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6582707" y="2634533"/>
            <a:ext cx="1248156" cy="75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Carrers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656" y="573762"/>
            <a:ext cx="4749530" cy="2887403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/>
          <p:nvPr/>
        </p:nvSpPr>
        <p:spPr>
          <a:xfrm>
            <a:off x="291831" y="51654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Proposed website sitemap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6468407" y="468577"/>
            <a:ext cx="1337310" cy="534924"/>
          </a:xfrm>
          <a:prstGeom prst="roundRect">
            <a:avLst>
              <a:gd fmla="val 5128" name="adj"/>
            </a:avLst>
          </a:prstGeom>
          <a:solidFill>
            <a:srgbClr val="F7F7F7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6512984" y="740072"/>
            <a:ext cx="1248156" cy="75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Contact Us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1503240" y="740071"/>
            <a:ext cx="2566982" cy="94319"/>
          </a:xfrm>
          <a:prstGeom prst="rect">
            <a:avLst/>
          </a:prstGeom>
          <a:solidFill>
            <a:srgbClr val="F2F2F2">
              <a:alpha val="6980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6200470" y="1371204"/>
            <a:ext cx="1873183" cy="11129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ARIGE</a:t>
            </a:r>
            <a:r>
              <a:rPr b="1" lang="en" sz="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endParaRPr sz="1100"/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 xxx, BKK 1234</a:t>
            </a:r>
            <a:endParaRPr sz="1100"/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Tel. +66 2xxxxxxx</a:t>
            </a:r>
            <a:endParaRPr sz="1100"/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Email: </a:t>
            </a:r>
            <a:r>
              <a:rPr lang="en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XXXX@arigeo.co.th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 :  XXXXXXX</a:t>
            </a:r>
            <a:endParaRPr sz="1100"/>
          </a:p>
        </p:txBody>
      </p:sp>
      <p:grpSp>
        <p:nvGrpSpPr>
          <p:cNvPr id="328" name="Google Shape;328;p27"/>
          <p:cNvGrpSpPr/>
          <p:nvPr/>
        </p:nvGrpSpPr>
        <p:grpSpPr>
          <a:xfrm>
            <a:off x="6122662" y="2623951"/>
            <a:ext cx="1825662" cy="462236"/>
            <a:chOff x="8163549" y="3498601"/>
            <a:chExt cx="2434216" cy="616314"/>
          </a:xfrm>
        </p:grpSpPr>
        <p:pic>
          <p:nvPicPr>
            <p:cNvPr id="329" name="Google Shape;329;p27"/>
            <p:cNvPicPr preferRelativeResize="0"/>
            <p:nvPr/>
          </p:nvPicPr>
          <p:blipFill rotWithShape="1">
            <a:blip r:embed="rId5">
              <a:alphaModFix/>
            </a:blip>
            <a:srcRect b="0" l="83675" r="0" t="0"/>
            <a:stretch/>
          </p:blipFill>
          <p:spPr>
            <a:xfrm>
              <a:off x="9335472" y="3507041"/>
              <a:ext cx="654310" cy="607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27"/>
            <p:cNvPicPr preferRelativeResize="0"/>
            <p:nvPr/>
          </p:nvPicPr>
          <p:blipFill rotWithShape="1">
            <a:blip r:embed="rId5">
              <a:alphaModFix/>
            </a:blip>
            <a:srcRect b="0" l="0" r="68506" t="0"/>
            <a:stretch/>
          </p:blipFill>
          <p:spPr>
            <a:xfrm>
              <a:off x="8163549" y="3507041"/>
              <a:ext cx="1262293" cy="607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27"/>
            <p:cNvPicPr preferRelativeResize="0"/>
            <p:nvPr/>
          </p:nvPicPr>
          <p:blipFill rotWithShape="1">
            <a:blip r:embed="rId5">
              <a:alphaModFix/>
            </a:blip>
            <a:srcRect b="0" l="49300" r="34445" t="0"/>
            <a:stretch/>
          </p:blipFill>
          <p:spPr>
            <a:xfrm>
              <a:off x="9946272" y="3498601"/>
              <a:ext cx="651493" cy="6078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rigeo_logo_transparent.png" id="337" name="Google Shape;3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71450"/>
            <a:ext cx="768096" cy="168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Google Shape;338;p28"/>
          <p:cNvCxnSpPr/>
          <p:nvPr/>
        </p:nvCxnSpPr>
        <p:spPr>
          <a:xfrm>
            <a:off x="1234440" y="253746"/>
            <a:ext cx="6789420" cy="0"/>
          </a:xfrm>
          <a:prstGeom prst="straightConnector1">
            <a:avLst/>
          </a:prstGeom>
          <a:noFill/>
          <a:ln cap="flat" cmpd="sng" w="9525">
            <a:solidFill>
              <a:srgbClr val="E7E4E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28"/>
          <p:cNvSpPr/>
          <p:nvPr/>
        </p:nvSpPr>
        <p:spPr>
          <a:xfrm>
            <a:off x="8401050" y="18516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500"/>
              <a:buFont typeface="Arial"/>
              <a:buNone/>
            </a:pPr>
            <a:r>
              <a:rPr lang="en" sz="5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8778240" y="164592"/>
            <a:ext cx="116586" cy="116586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8"/>
          <p:cNvSpPr/>
          <p:nvPr/>
        </p:nvSpPr>
        <p:spPr>
          <a:xfrm>
            <a:off x="507492" y="562356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Content and functionality scope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514350" y="857250"/>
            <a:ext cx="510921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600"/>
              <a:buFont typeface="Arial"/>
              <a:buNone/>
            </a:pPr>
            <a:r>
              <a:rPr lang="en" sz="6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What the agency should plan, design and hand over for the first website version.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534924" y="1179576"/>
            <a:ext cx="3669030" cy="589788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8"/>
          <p:cNvSpPr/>
          <p:nvPr/>
        </p:nvSpPr>
        <p:spPr>
          <a:xfrm>
            <a:off x="713232" y="1303020"/>
            <a:ext cx="75438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1700784" y="1234440"/>
            <a:ext cx="222885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Company profile, brand stories, product copy, claims support, news, contact text.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4615434" y="1179576"/>
            <a:ext cx="3669030" cy="589788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8"/>
          <p:cNvSpPr/>
          <p:nvPr/>
        </p:nvSpPr>
        <p:spPr>
          <a:xfrm>
            <a:off x="4793742" y="1303020"/>
            <a:ext cx="75438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5781294" y="1162431"/>
            <a:ext cx="2228850" cy="637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Recommended TH / EN structure with scalable CMS fields for both languages.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534924" y="2105406"/>
            <a:ext cx="3669030" cy="589788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8"/>
          <p:cNvSpPr/>
          <p:nvPr/>
        </p:nvSpPr>
        <p:spPr>
          <a:xfrm>
            <a:off x="713232" y="2228850"/>
            <a:ext cx="75438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SEO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1700784" y="2215134"/>
            <a:ext cx="222885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Page titles, meta descriptions, clean URL structure, product/category keywords.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4615434" y="2105406"/>
            <a:ext cx="3669030" cy="589788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8"/>
          <p:cNvSpPr/>
          <p:nvPr/>
        </p:nvSpPr>
        <p:spPr>
          <a:xfrm>
            <a:off x="4793742" y="2228850"/>
            <a:ext cx="75438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Forms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5781294" y="2095338"/>
            <a:ext cx="2228850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General enquiry, partnership/distributor enquiry, career/contact routing.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534924" y="3031236"/>
            <a:ext cx="3669030" cy="589788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8"/>
          <p:cNvSpPr/>
          <p:nvPr/>
        </p:nvSpPr>
        <p:spPr>
          <a:xfrm>
            <a:off x="713232" y="3154680"/>
            <a:ext cx="75438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CMS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8"/>
          <p:cNvSpPr/>
          <p:nvPr/>
        </p:nvSpPr>
        <p:spPr>
          <a:xfrm>
            <a:off x="1700784" y="3140964"/>
            <a:ext cx="222885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Admin-friendly product, brand, news and banner modules.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8"/>
          <p:cNvSpPr/>
          <p:nvPr/>
        </p:nvSpPr>
        <p:spPr>
          <a:xfrm>
            <a:off x="4615434" y="3031236"/>
            <a:ext cx="3669030" cy="589788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8"/>
          <p:cNvSpPr/>
          <p:nvPr/>
        </p:nvSpPr>
        <p:spPr>
          <a:xfrm>
            <a:off x="4793742" y="3154680"/>
            <a:ext cx="75438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80808"/>
                </a:solidFill>
                <a:latin typeface="Arial"/>
                <a:ea typeface="Arial"/>
                <a:cs typeface="Arial"/>
                <a:sym typeface="Arial"/>
              </a:rPr>
              <a:t>Analytics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5812155" y="3031236"/>
            <a:ext cx="2228850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GA4, GTM setup and conversion events for contact, brand clicks, product views.</a:t>
            </a:r>
            <a:endParaRPr sz="1100"/>
          </a:p>
        </p:txBody>
      </p:sp>
      <p:sp>
        <p:nvSpPr>
          <p:cNvPr id="361" name="Google Shape;361;p28"/>
          <p:cNvSpPr/>
          <p:nvPr/>
        </p:nvSpPr>
        <p:spPr>
          <a:xfrm>
            <a:off x="2194560" y="4114800"/>
            <a:ext cx="4732020" cy="288036"/>
          </a:xfrm>
          <a:prstGeom prst="roundRect">
            <a:avLst>
              <a:gd fmla="val 9524" name="adj"/>
            </a:avLst>
          </a:prstGeom>
          <a:solidFill>
            <a:srgbClr val="080808"/>
          </a:solidFill>
          <a:ln cap="flat" cmpd="sng" w="9525">
            <a:solidFill>
              <a:srgbClr val="08080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8"/>
          <p:cNvSpPr/>
          <p:nvPr/>
        </p:nvSpPr>
        <p:spPr>
          <a:xfrm>
            <a:off x="2297430" y="4217670"/>
            <a:ext cx="4526280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Important: design system must support future product launches 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8"/>
          <p:cNvSpPr/>
          <p:nvPr/>
        </p:nvSpPr>
        <p:spPr>
          <a:xfrm>
            <a:off x="342900" y="4882896"/>
            <a:ext cx="150876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b="1"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ARIGEO WEBSITE BRIEF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8"/>
          <p:cNvSpPr/>
          <p:nvPr/>
        </p:nvSpPr>
        <p:spPr>
          <a:xfrm>
            <a:off x="8641080" y="4869180"/>
            <a:ext cx="17145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rigeo_logo_transparent.png" id="370" name="Google Shape;37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71450"/>
            <a:ext cx="768096" cy="168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1" name="Google Shape;371;p29"/>
          <p:cNvCxnSpPr/>
          <p:nvPr/>
        </p:nvCxnSpPr>
        <p:spPr>
          <a:xfrm>
            <a:off x="1234440" y="253746"/>
            <a:ext cx="6789420" cy="0"/>
          </a:xfrm>
          <a:prstGeom prst="straightConnector1">
            <a:avLst/>
          </a:prstGeom>
          <a:noFill/>
          <a:ln cap="flat" cmpd="sng" w="9525">
            <a:solidFill>
              <a:srgbClr val="E7E4E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29"/>
          <p:cNvSpPr/>
          <p:nvPr/>
        </p:nvSpPr>
        <p:spPr>
          <a:xfrm>
            <a:off x="8401050" y="18516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500"/>
              <a:buFont typeface="Arial"/>
              <a:buNone/>
            </a:pPr>
            <a:r>
              <a:rPr lang="en" sz="5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9"/>
          <p:cNvSpPr/>
          <p:nvPr/>
        </p:nvSpPr>
        <p:spPr>
          <a:xfrm>
            <a:off x="8778240" y="164592"/>
            <a:ext cx="116586" cy="116586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9"/>
          <p:cNvSpPr/>
          <p:nvPr/>
        </p:nvSpPr>
        <p:spPr>
          <a:xfrm>
            <a:off x="507492" y="562356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Play"/>
              <a:buNone/>
            </a:pPr>
            <a:r>
              <a:rPr b="1" lang="en" sz="24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Visual system direction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9"/>
          <p:cNvSpPr/>
          <p:nvPr/>
        </p:nvSpPr>
        <p:spPr>
          <a:xfrm>
            <a:off x="514350" y="857250"/>
            <a:ext cx="510921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 nature-science look: fresh, clean and credible, now grounded in Arigeo’s red / black / white brand language.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rigeo_still_vertical2.jpg" id="376" name="Google Shape;37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924" y="1165860"/>
            <a:ext cx="2537460" cy="312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9"/>
          <p:cNvSpPr/>
          <p:nvPr/>
        </p:nvSpPr>
        <p:spPr>
          <a:xfrm>
            <a:off x="3429000" y="1179576"/>
            <a:ext cx="17145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PALETTE APPLICATION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3429000" y="1405890"/>
            <a:ext cx="582930" cy="342900"/>
          </a:xfrm>
          <a:prstGeom prst="rect">
            <a:avLst/>
          </a:prstGeom>
          <a:solidFill>
            <a:srgbClr val="080808"/>
          </a:solidFill>
          <a:ln cap="flat" cmpd="sng" w="9525">
            <a:solidFill>
              <a:srgbClr val="0808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9"/>
          <p:cNvSpPr/>
          <p:nvPr/>
        </p:nvSpPr>
        <p:spPr>
          <a:xfrm>
            <a:off x="3429000" y="1837944"/>
            <a:ext cx="65151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Black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4217670" y="1405890"/>
            <a:ext cx="582930" cy="342900"/>
          </a:xfrm>
          <a:prstGeom prst="rect">
            <a:avLst/>
          </a:prstGeom>
          <a:solidFill>
            <a:srgbClr val="F4151F"/>
          </a:solidFill>
          <a:ln cap="flat" cmpd="sng" w="9525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9"/>
          <p:cNvSpPr/>
          <p:nvPr/>
        </p:nvSpPr>
        <p:spPr>
          <a:xfrm>
            <a:off x="4217670" y="1837944"/>
            <a:ext cx="65151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Arigeo red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9"/>
          <p:cNvSpPr/>
          <p:nvPr/>
        </p:nvSpPr>
        <p:spPr>
          <a:xfrm>
            <a:off x="5006340" y="1405890"/>
            <a:ext cx="582930" cy="34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9"/>
          <p:cNvSpPr/>
          <p:nvPr/>
        </p:nvSpPr>
        <p:spPr>
          <a:xfrm>
            <a:off x="5006340" y="1837944"/>
            <a:ext cx="65151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White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9"/>
          <p:cNvSpPr/>
          <p:nvPr/>
        </p:nvSpPr>
        <p:spPr>
          <a:xfrm>
            <a:off x="5795010" y="1405890"/>
            <a:ext cx="582930" cy="342900"/>
          </a:xfrm>
          <a:prstGeom prst="rect">
            <a:avLst/>
          </a:prstGeom>
          <a:solidFill>
            <a:srgbClr val="F7F4EF"/>
          </a:solidFill>
          <a:ln cap="flat" cmpd="sng" w="9525">
            <a:solidFill>
              <a:srgbClr val="F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9"/>
          <p:cNvSpPr/>
          <p:nvPr/>
        </p:nvSpPr>
        <p:spPr>
          <a:xfrm>
            <a:off x="5795010" y="1837944"/>
            <a:ext cx="65151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Soft neutral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9"/>
          <p:cNvSpPr/>
          <p:nvPr/>
        </p:nvSpPr>
        <p:spPr>
          <a:xfrm>
            <a:off x="6583680" y="1405890"/>
            <a:ext cx="582930" cy="342900"/>
          </a:xfrm>
          <a:prstGeom prst="rect">
            <a:avLst/>
          </a:prstGeom>
          <a:solidFill>
            <a:srgbClr val="DDEDE6"/>
          </a:solidFill>
          <a:ln cap="flat" cmpd="sng" w="9525">
            <a:solidFill>
              <a:srgbClr val="DDE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9"/>
          <p:cNvSpPr/>
          <p:nvPr/>
        </p:nvSpPr>
        <p:spPr>
          <a:xfrm>
            <a:off x="6583680" y="1837944"/>
            <a:ext cx="651510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KAO cue green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9"/>
          <p:cNvSpPr/>
          <p:nvPr/>
        </p:nvSpPr>
        <p:spPr>
          <a:xfrm>
            <a:off x="3429000" y="2180844"/>
            <a:ext cx="10287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TYPOGRAPHY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3429000" y="2366010"/>
            <a:ext cx="387477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Modern sans-serif, generous spacing, strong readability on mobile.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3429000" y="2743200"/>
            <a:ext cx="10287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PHOTOGRAPHY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3429000" y="2928366"/>
            <a:ext cx="40462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Bright home rituals, skin textures, natural ingredients, clean product still life and light lab/science moments.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3429000" y="3380994"/>
            <a:ext cx="12344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INTERFACE FEELING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9"/>
          <p:cNvSpPr/>
          <p:nvPr/>
        </p:nvSpPr>
        <p:spPr>
          <a:xfrm>
            <a:off x="3429000" y="356616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800"/>
              <a:buFont typeface="Arial"/>
              <a:buNone/>
            </a:pPr>
            <a:r>
              <a:rPr lang="en" sz="8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Large white space, accessible contrast, clear CTA hierarchy and no clutter.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7920990" y="1234440"/>
            <a:ext cx="377190" cy="377190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9"/>
          <p:cNvSpPr/>
          <p:nvPr/>
        </p:nvSpPr>
        <p:spPr>
          <a:xfrm>
            <a:off x="342900" y="4882896"/>
            <a:ext cx="150876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b="1"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ARIGEO WEBSITE BRIEF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8641080" y="4869180"/>
            <a:ext cx="17145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rigeo_logo_transparent.png" id="402" name="Google Shape;40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71450"/>
            <a:ext cx="768096" cy="168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3" name="Google Shape;403;p30"/>
          <p:cNvCxnSpPr/>
          <p:nvPr/>
        </p:nvCxnSpPr>
        <p:spPr>
          <a:xfrm>
            <a:off x="1234440" y="253746"/>
            <a:ext cx="6789420" cy="0"/>
          </a:xfrm>
          <a:prstGeom prst="straightConnector1">
            <a:avLst/>
          </a:prstGeom>
          <a:noFill/>
          <a:ln cap="flat" cmpd="sng" w="9525">
            <a:solidFill>
              <a:srgbClr val="E7E4E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30"/>
          <p:cNvSpPr/>
          <p:nvPr/>
        </p:nvSpPr>
        <p:spPr>
          <a:xfrm>
            <a:off x="8401050" y="185166"/>
            <a:ext cx="3086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500"/>
              <a:buFont typeface="Arial"/>
              <a:buNone/>
            </a:pPr>
            <a:r>
              <a:rPr lang="en" sz="5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0"/>
          <p:cNvSpPr/>
          <p:nvPr/>
        </p:nvSpPr>
        <p:spPr>
          <a:xfrm>
            <a:off x="8778240" y="164592"/>
            <a:ext cx="116586" cy="116586"/>
          </a:xfrm>
          <a:prstGeom prst="ellipse">
            <a:avLst/>
          </a:prstGeom>
          <a:solidFill>
            <a:srgbClr val="F4151F"/>
          </a:solidFill>
          <a:ln cap="flat" cmpd="sng" w="12700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0"/>
          <p:cNvSpPr/>
          <p:nvPr/>
        </p:nvSpPr>
        <p:spPr>
          <a:xfrm>
            <a:off x="507492" y="562356"/>
            <a:ext cx="504063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71717"/>
                </a:solidFill>
                <a:latin typeface="Play"/>
                <a:ea typeface="Play"/>
                <a:cs typeface="Play"/>
                <a:sym typeface="Play"/>
              </a:rPr>
              <a:t>Agency deliverables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0"/>
          <p:cNvSpPr/>
          <p:nvPr/>
        </p:nvSpPr>
        <p:spPr>
          <a:xfrm>
            <a:off x="514350" y="857250"/>
            <a:ext cx="510921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600"/>
              <a:buFont typeface="Arial"/>
              <a:buNone/>
            </a:pPr>
            <a:r>
              <a:rPr lang="en" sz="6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The agency should deliver enough detail for internal approval and a smooth development handoff.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0"/>
          <p:cNvSpPr/>
          <p:nvPr/>
        </p:nvSpPr>
        <p:spPr>
          <a:xfrm>
            <a:off x="534924" y="1371600"/>
            <a:ext cx="1405890" cy="1851660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0"/>
          <p:cNvSpPr/>
          <p:nvPr/>
        </p:nvSpPr>
        <p:spPr>
          <a:xfrm>
            <a:off x="672084" y="1563624"/>
            <a:ext cx="20574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0"/>
          <p:cNvSpPr/>
          <p:nvPr/>
        </p:nvSpPr>
        <p:spPr>
          <a:xfrm>
            <a:off x="672084" y="1940814"/>
            <a:ext cx="10287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Discovery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0"/>
          <p:cNvSpPr/>
          <p:nvPr/>
        </p:nvSpPr>
        <p:spPr>
          <a:xfrm>
            <a:off x="672084" y="2297430"/>
            <a:ext cx="106299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Workshop, content audit, reference analysis, user journeys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2235708" y="1371600"/>
            <a:ext cx="1405890" cy="1851660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0"/>
          <p:cNvSpPr/>
          <p:nvPr/>
        </p:nvSpPr>
        <p:spPr>
          <a:xfrm>
            <a:off x="2372868" y="1563624"/>
            <a:ext cx="20574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0"/>
          <p:cNvSpPr/>
          <p:nvPr/>
        </p:nvSpPr>
        <p:spPr>
          <a:xfrm>
            <a:off x="2372868" y="1940814"/>
            <a:ext cx="10287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0"/>
          <p:cNvSpPr/>
          <p:nvPr/>
        </p:nvSpPr>
        <p:spPr>
          <a:xfrm>
            <a:off x="2372868" y="2297430"/>
            <a:ext cx="106299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Sitemap, wireframes, navigation, content blocks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0"/>
          <p:cNvSpPr/>
          <p:nvPr/>
        </p:nvSpPr>
        <p:spPr>
          <a:xfrm>
            <a:off x="3936492" y="1371600"/>
            <a:ext cx="1405890" cy="1851660"/>
          </a:xfrm>
          <a:prstGeom prst="roundRect">
            <a:avLst>
              <a:gd fmla="val 1951" name="adj"/>
            </a:avLst>
          </a:prstGeom>
          <a:solidFill>
            <a:srgbClr val="FBE8E8"/>
          </a:solidFill>
          <a:ln cap="flat" cmpd="sng" w="9525">
            <a:solidFill>
              <a:srgbClr val="F4151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0"/>
          <p:cNvSpPr/>
          <p:nvPr/>
        </p:nvSpPr>
        <p:spPr>
          <a:xfrm>
            <a:off x="4073652" y="1563624"/>
            <a:ext cx="20574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4073652" y="1940814"/>
            <a:ext cx="10287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UI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0"/>
          <p:cNvSpPr/>
          <p:nvPr/>
        </p:nvSpPr>
        <p:spPr>
          <a:xfrm>
            <a:off x="4073652" y="2297430"/>
            <a:ext cx="106299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Homepage, key templates, design system, responsive views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0"/>
          <p:cNvSpPr/>
          <p:nvPr/>
        </p:nvSpPr>
        <p:spPr>
          <a:xfrm>
            <a:off x="5637276" y="1371600"/>
            <a:ext cx="1405890" cy="1851660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0"/>
          <p:cNvSpPr/>
          <p:nvPr/>
        </p:nvSpPr>
        <p:spPr>
          <a:xfrm>
            <a:off x="5774436" y="1563624"/>
            <a:ext cx="20574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0"/>
          <p:cNvSpPr/>
          <p:nvPr/>
        </p:nvSpPr>
        <p:spPr>
          <a:xfrm>
            <a:off x="5774436" y="1940814"/>
            <a:ext cx="10287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0"/>
          <p:cNvSpPr/>
          <p:nvPr/>
        </p:nvSpPr>
        <p:spPr>
          <a:xfrm>
            <a:off x="5774436" y="2297430"/>
            <a:ext cx="106299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Clickable Figma prototype for approval and feedback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0"/>
          <p:cNvSpPr/>
          <p:nvPr/>
        </p:nvSpPr>
        <p:spPr>
          <a:xfrm>
            <a:off x="7338060" y="1371600"/>
            <a:ext cx="1405890" cy="1851660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9525">
            <a:solidFill>
              <a:srgbClr val="E7E4E0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0"/>
          <p:cNvSpPr/>
          <p:nvPr/>
        </p:nvSpPr>
        <p:spPr>
          <a:xfrm>
            <a:off x="7475220" y="1563624"/>
            <a:ext cx="205740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151F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F4151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0"/>
          <p:cNvSpPr/>
          <p:nvPr/>
        </p:nvSpPr>
        <p:spPr>
          <a:xfrm>
            <a:off x="7475220" y="1940814"/>
            <a:ext cx="10287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Handoff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0"/>
          <p:cNvSpPr/>
          <p:nvPr/>
        </p:nvSpPr>
        <p:spPr>
          <a:xfrm>
            <a:off x="7475220" y="2297430"/>
            <a:ext cx="106299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Assets, specs, CMS content model, QA checklist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0"/>
          <p:cNvSpPr/>
          <p:nvPr/>
        </p:nvSpPr>
        <p:spPr>
          <a:xfrm>
            <a:off x="1851660" y="3806190"/>
            <a:ext cx="5452110" cy="294894"/>
          </a:xfrm>
          <a:prstGeom prst="roundRect">
            <a:avLst>
              <a:gd fmla="val 9302" name="adj"/>
            </a:avLst>
          </a:prstGeom>
          <a:solidFill>
            <a:srgbClr val="080808"/>
          </a:solidFill>
          <a:ln cap="flat" cmpd="sng" w="9525">
            <a:solidFill>
              <a:srgbClr val="08080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392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0"/>
          <p:cNvSpPr/>
          <p:nvPr/>
        </p:nvSpPr>
        <p:spPr>
          <a:xfrm>
            <a:off x="1954530" y="3909060"/>
            <a:ext cx="5246370" cy="54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design files should be editable and structured for internal team review.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0"/>
          <p:cNvSpPr/>
          <p:nvPr/>
        </p:nvSpPr>
        <p:spPr>
          <a:xfrm>
            <a:off x="342900" y="4882896"/>
            <a:ext cx="1508760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b="1"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ARIGEO WEBSITE BRIEF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0"/>
          <p:cNvSpPr/>
          <p:nvPr/>
        </p:nvSpPr>
        <p:spPr>
          <a:xfrm>
            <a:off x="8641080" y="4869180"/>
            <a:ext cx="17145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6C6C"/>
              </a:buClr>
              <a:buSzPts val="400"/>
              <a:buFont typeface="Arial"/>
              <a:buNone/>
            </a:pPr>
            <a:r>
              <a:rPr lang="en" sz="40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9935" y="68690"/>
            <a:ext cx="2343486" cy="493922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1"/>
          <p:cNvSpPr txBox="1"/>
          <p:nvPr/>
        </p:nvSpPr>
        <p:spPr>
          <a:xfrm>
            <a:off x="355325" y="68700"/>
            <a:ext cx="100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Mockup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